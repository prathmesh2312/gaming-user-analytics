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D36337-A60A-62D3-B356-E8C817FA20E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721A9BB-441A-5E20-D5BA-214709D8ADE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F83E295-FFF8-36D3-7A01-56F5FD1117F6}"/>
              </a:ext>
            </a:extLst>
          </p:cNvPr>
          <p:cNvSpPr>
            <a:spLocks noGrp="1"/>
          </p:cNvSpPr>
          <p:nvPr>
            <p:ph type="dt" sz="half" idx="10"/>
          </p:nvPr>
        </p:nvSpPr>
        <p:spPr/>
        <p:txBody>
          <a:bodyPr/>
          <a:lstStyle/>
          <a:p>
            <a:fld id="{BD25AD99-4945-4935-BAF0-D95B0A93FBFD}" type="datetimeFigureOut">
              <a:rPr lang="en-IN" smtClean="0"/>
              <a:t>21-09-2025</a:t>
            </a:fld>
            <a:endParaRPr lang="en-IN"/>
          </a:p>
        </p:txBody>
      </p:sp>
      <p:sp>
        <p:nvSpPr>
          <p:cNvPr id="5" name="Footer Placeholder 4">
            <a:extLst>
              <a:ext uri="{FF2B5EF4-FFF2-40B4-BE49-F238E27FC236}">
                <a16:creationId xmlns:a16="http://schemas.microsoft.com/office/drawing/2014/main" id="{36D4E7AB-8009-D15E-7350-3DC498AF7E3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A7A1151-D3FC-8D46-B1BA-7B12CEC0D087}"/>
              </a:ext>
            </a:extLst>
          </p:cNvPr>
          <p:cNvSpPr>
            <a:spLocks noGrp="1"/>
          </p:cNvSpPr>
          <p:nvPr>
            <p:ph type="sldNum" sz="quarter" idx="12"/>
          </p:nvPr>
        </p:nvSpPr>
        <p:spPr/>
        <p:txBody>
          <a:bodyPr/>
          <a:lstStyle/>
          <a:p>
            <a:fld id="{3291B6BC-0BF3-47B2-9BF8-82D868F99C50}" type="slidenum">
              <a:rPr lang="en-IN" smtClean="0"/>
              <a:t>‹#›</a:t>
            </a:fld>
            <a:endParaRPr lang="en-IN"/>
          </a:p>
        </p:txBody>
      </p:sp>
    </p:spTree>
    <p:extLst>
      <p:ext uri="{BB962C8B-B14F-4D97-AF65-F5344CB8AC3E}">
        <p14:creationId xmlns:p14="http://schemas.microsoft.com/office/powerpoint/2010/main" val="23373613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7316EC-E82C-D312-471E-42CBFF4ACF6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ED55EA2-E575-E45B-C943-3306ED3B04F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65BB623-84CC-6642-5355-CB781E24EFF8}"/>
              </a:ext>
            </a:extLst>
          </p:cNvPr>
          <p:cNvSpPr>
            <a:spLocks noGrp="1"/>
          </p:cNvSpPr>
          <p:nvPr>
            <p:ph type="dt" sz="half" idx="10"/>
          </p:nvPr>
        </p:nvSpPr>
        <p:spPr/>
        <p:txBody>
          <a:bodyPr/>
          <a:lstStyle/>
          <a:p>
            <a:fld id="{BD25AD99-4945-4935-BAF0-D95B0A93FBFD}" type="datetimeFigureOut">
              <a:rPr lang="en-IN" smtClean="0"/>
              <a:t>21-09-2025</a:t>
            </a:fld>
            <a:endParaRPr lang="en-IN"/>
          </a:p>
        </p:txBody>
      </p:sp>
      <p:sp>
        <p:nvSpPr>
          <p:cNvPr id="5" name="Footer Placeholder 4">
            <a:extLst>
              <a:ext uri="{FF2B5EF4-FFF2-40B4-BE49-F238E27FC236}">
                <a16:creationId xmlns:a16="http://schemas.microsoft.com/office/drawing/2014/main" id="{00302AA7-2A18-DA61-F4C7-CC3CBF983F6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F55F239-06AE-F4B1-AEA4-27946D4406B3}"/>
              </a:ext>
            </a:extLst>
          </p:cNvPr>
          <p:cNvSpPr>
            <a:spLocks noGrp="1"/>
          </p:cNvSpPr>
          <p:nvPr>
            <p:ph type="sldNum" sz="quarter" idx="12"/>
          </p:nvPr>
        </p:nvSpPr>
        <p:spPr/>
        <p:txBody>
          <a:bodyPr/>
          <a:lstStyle/>
          <a:p>
            <a:fld id="{3291B6BC-0BF3-47B2-9BF8-82D868F99C50}" type="slidenum">
              <a:rPr lang="en-IN" smtClean="0"/>
              <a:t>‹#›</a:t>
            </a:fld>
            <a:endParaRPr lang="en-IN"/>
          </a:p>
        </p:txBody>
      </p:sp>
    </p:spTree>
    <p:extLst>
      <p:ext uri="{BB962C8B-B14F-4D97-AF65-F5344CB8AC3E}">
        <p14:creationId xmlns:p14="http://schemas.microsoft.com/office/powerpoint/2010/main" val="2582593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FA7C1C-0C6B-3582-5E9D-13CD6F51308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38A7174-7F38-E383-E35F-B726175265E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A8EEE93-159E-8E17-CBB7-6111E1C8544D}"/>
              </a:ext>
            </a:extLst>
          </p:cNvPr>
          <p:cNvSpPr>
            <a:spLocks noGrp="1"/>
          </p:cNvSpPr>
          <p:nvPr>
            <p:ph type="dt" sz="half" idx="10"/>
          </p:nvPr>
        </p:nvSpPr>
        <p:spPr/>
        <p:txBody>
          <a:bodyPr/>
          <a:lstStyle/>
          <a:p>
            <a:fld id="{BD25AD99-4945-4935-BAF0-D95B0A93FBFD}" type="datetimeFigureOut">
              <a:rPr lang="en-IN" smtClean="0"/>
              <a:t>21-09-2025</a:t>
            </a:fld>
            <a:endParaRPr lang="en-IN"/>
          </a:p>
        </p:txBody>
      </p:sp>
      <p:sp>
        <p:nvSpPr>
          <p:cNvPr id="5" name="Footer Placeholder 4">
            <a:extLst>
              <a:ext uri="{FF2B5EF4-FFF2-40B4-BE49-F238E27FC236}">
                <a16:creationId xmlns:a16="http://schemas.microsoft.com/office/drawing/2014/main" id="{28B0925D-7388-AC53-3E38-8E1C7181A3B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4F1ABC2-434E-AF49-C26A-F998E0B5A767}"/>
              </a:ext>
            </a:extLst>
          </p:cNvPr>
          <p:cNvSpPr>
            <a:spLocks noGrp="1"/>
          </p:cNvSpPr>
          <p:nvPr>
            <p:ph type="sldNum" sz="quarter" idx="12"/>
          </p:nvPr>
        </p:nvSpPr>
        <p:spPr/>
        <p:txBody>
          <a:bodyPr/>
          <a:lstStyle/>
          <a:p>
            <a:fld id="{3291B6BC-0BF3-47B2-9BF8-82D868F99C50}" type="slidenum">
              <a:rPr lang="en-IN" smtClean="0"/>
              <a:t>‹#›</a:t>
            </a:fld>
            <a:endParaRPr lang="en-IN"/>
          </a:p>
        </p:txBody>
      </p:sp>
    </p:spTree>
    <p:extLst>
      <p:ext uri="{BB962C8B-B14F-4D97-AF65-F5344CB8AC3E}">
        <p14:creationId xmlns:p14="http://schemas.microsoft.com/office/powerpoint/2010/main" val="5428906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AF66B9-5A8B-2EF9-8E77-59CD3FF30B1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78544E0-0C79-81DA-1964-73F21D28690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FC7EBE4-A162-13FB-A06E-5F245CAB955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1702CE7-DE81-1425-A09E-BB72D45D622C}"/>
              </a:ext>
            </a:extLst>
          </p:cNvPr>
          <p:cNvSpPr>
            <a:spLocks noGrp="1"/>
          </p:cNvSpPr>
          <p:nvPr>
            <p:ph type="dt" sz="half" idx="10"/>
          </p:nvPr>
        </p:nvSpPr>
        <p:spPr/>
        <p:txBody>
          <a:bodyPr/>
          <a:lstStyle/>
          <a:p>
            <a:fld id="{BD25AD99-4945-4935-BAF0-D95B0A93FBFD}" type="datetimeFigureOut">
              <a:rPr lang="en-IN" smtClean="0"/>
              <a:t>21-09-2025</a:t>
            </a:fld>
            <a:endParaRPr lang="en-IN"/>
          </a:p>
        </p:txBody>
      </p:sp>
      <p:sp>
        <p:nvSpPr>
          <p:cNvPr id="6" name="Footer Placeholder 5">
            <a:extLst>
              <a:ext uri="{FF2B5EF4-FFF2-40B4-BE49-F238E27FC236}">
                <a16:creationId xmlns:a16="http://schemas.microsoft.com/office/drawing/2014/main" id="{F5E737D8-5514-0D12-1813-E1CDD3C3B1B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0EC7DD9-DA12-257F-FA13-918C6796E183}"/>
              </a:ext>
            </a:extLst>
          </p:cNvPr>
          <p:cNvSpPr>
            <a:spLocks noGrp="1"/>
          </p:cNvSpPr>
          <p:nvPr>
            <p:ph type="sldNum" sz="quarter" idx="12"/>
          </p:nvPr>
        </p:nvSpPr>
        <p:spPr/>
        <p:txBody>
          <a:bodyPr/>
          <a:lstStyle/>
          <a:p>
            <a:fld id="{3291B6BC-0BF3-47B2-9BF8-82D868F99C50}" type="slidenum">
              <a:rPr lang="en-IN" smtClean="0"/>
              <a:t>‹#›</a:t>
            </a:fld>
            <a:endParaRPr lang="en-IN"/>
          </a:p>
        </p:txBody>
      </p:sp>
    </p:spTree>
    <p:extLst>
      <p:ext uri="{BB962C8B-B14F-4D97-AF65-F5344CB8AC3E}">
        <p14:creationId xmlns:p14="http://schemas.microsoft.com/office/powerpoint/2010/main" val="16975971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11B5F6-27A6-5B4F-05A7-0358C33B992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87420F8-8D63-89CC-FC73-D67D682981C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EFD2610-5E6E-9BD1-5338-48B034C975A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44B8039-5C5A-7D53-D3D7-39A894445EA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E5BECCC-774C-7D91-34B4-B3D273FA943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656E023-DD0F-67F4-603A-7EF8238F0F1A}"/>
              </a:ext>
            </a:extLst>
          </p:cNvPr>
          <p:cNvSpPr>
            <a:spLocks noGrp="1"/>
          </p:cNvSpPr>
          <p:nvPr>
            <p:ph type="dt" sz="half" idx="10"/>
          </p:nvPr>
        </p:nvSpPr>
        <p:spPr/>
        <p:txBody>
          <a:bodyPr/>
          <a:lstStyle/>
          <a:p>
            <a:fld id="{BD25AD99-4945-4935-BAF0-D95B0A93FBFD}" type="datetimeFigureOut">
              <a:rPr lang="en-IN" smtClean="0"/>
              <a:t>21-09-2025</a:t>
            </a:fld>
            <a:endParaRPr lang="en-IN"/>
          </a:p>
        </p:txBody>
      </p:sp>
      <p:sp>
        <p:nvSpPr>
          <p:cNvPr id="8" name="Footer Placeholder 7">
            <a:extLst>
              <a:ext uri="{FF2B5EF4-FFF2-40B4-BE49-F238E27FC236}">
                <a16:creationId xmlns:a16="http://schemas.microsoft.com/office/drawing/2014/main" id="{B403EEA9-21DB-A3AA-04AA-91A2BAD901B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D05394E-C5B3-BF2F-AC6C-414926CF0428}"/>
              </a:ext>
            </a:extLst>
          </p:cNvPr>
          <p:cNvSpPr>
            <a:spLocks noGrp="1"/>
          </p:cNvSpPr>
          <p:nvPr>
            <p:ph type="sldNum" sz="quarter" idx="12"/>
          </p:nvPr>
        </p:nvSpPr>
        <p:spPr/>
        <p:txBody>
          <a:bodyPr/>
          <a:lstStyle/>
          <a:p>
            <a:fld id="{3291B6BC-0BF3-47B2-9BF8-82D868F99C50}" type="slidenum">
              <a:rPr lang="en-IN" smtClean="0"/>
              <a:t>‹#›</a:t>
            </a:fld>
            <a:endParaRPr lang="en-IN"/>
          </a:p>
        </p:txBody>
      </p:sp>
    </p:spTree>
    <p:extLst>
      <p:ext uri="{BB962C8B-B14F-4D97-AF65-F5344CB8AC3E}">
        <p14:creationId xmlns:p14="http://schemas.microsoft.com/office/powerpoint/2010/main" val="12775649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5313D6-45B4-7B23-930C-8B268013877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71624A2-5276-FEBA-EA7A-7C76B70B46F0}"/>
              </a:ext>
            </a:extLst>
          </p:cNvPr>
          <p:cNvSpPr>
            <a:spLocks noGrp="1"/>
          </p:cNvSpPr>
          <p:nvPr>
            <p:ph type="dt" sz="half" idx="10"/>
          </p:nvPr>
        </p:nvSpPr>
        <p:spPr/>
        <p:txBody>
          <a:bodyPr/>
          <a:lstStyle/>
          <a:p>
            <a:fld id="{BD25AD99-4945-4935-BAF0-D95B0A93FBFD}" type="datetimeFigureOut">
              <a:rPr lang="en-IN" smtClean="0"/>
              <a:t>21-09-2025</a:t>
            </a:fld>
            <a:endParaRPr lang="en-IN"/>
          </a:p>
        </p:txBody>
      </p:sp>
      <p:sp>
        <p:nvSpPr>
          <p:cNvPr id="4" name="Footer Placeholder 3">
            <a:extLst>
              <a:ext uri="{FF2B5EF4-FFF2-40B4-BE49-F238E27FC236}">
                <a16:creationId xmlns:a16="http://schemas.microsoft.com/office/drawing/2014/main" id="{BFE7B4D6-A69A-FD30-F027-FEBB980F6A1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7F86D7E-45BF-197E-1E3E-05A3548E6EFA}"/>
              </a:ext>
            </a:extLst>
          </p:cNvPr>
          <p:cNvSpPr>
            <a:spLocks noGrp="1"/>
          </p:cNvSpPr>
          <p:nvPr>
            <p:ph type="sldNum" sz="quarter" idx="12"/>
          </p:nvPr>
        </p:nvSpPr>
        <p:spPr/>
        <p:txBody>
          <a:bodyPr/>
          <a:lstStyle/>
          <a:p>
            <a:fld id="{3291B6BC-0BF3-47B2-9BF8-82D868F99C50}" type="slidenum">
              <a:rPr lang="en-IN" smtClean="0"/>
              <a:t>‹#›</a:t>
            </a:fld>
            <a:endParaRPr lang="en-IN"/>
          </a:p>
        </p:txBody>
      </p:sp>
    </p:spTree>
    <p:extLst>
      <p:ext uri="{BB962C8B-B14F-4D97-AF65-F5344CB8AC3E}">
        <p14:creationId xmlns:p14="http://schemas.microsoft.com/office/powerpoint/2010/main" val="42485418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80F4DAA-4B5C-6997-03B0-C00281B585DD}"/>
              </a:ext>
            </a:extLst>
          </p:cNvPr>
          <p:cNvSpPr>
            <a:spLocks noGrp="1"/>
          </p:cNvSpPr>
          <p:nvPr>
            <p:ph type="dt" sz="half" idx="10"/>
          </p:nvPr>
        </p:nvSpPr>
        <p:spPr/>
        <p:txBody>
          <a:bodyPr/>
          <a:lstStyle/>
          <a:p>
            <a:fld id="{BD25AD99-4945-4935-BAF0-D95B0A93FBFD}" type="datetimeFigureOut">
              <a:rPr lang="en-IN" smtClean="0"/>
              <a:t>21-09-2025</a:t>
            </a:fld>
            <a:endParaRPr lang="en-IN"/>
          </a:p>
        </p:txBody>
      </p:sp>
      <p:sp>
        <p:nvSpPr>
          <p:cNvPr id="3" name="Footer Placeholder 2">
            <a:extLst>
              <a:ext uri="{FF2B5EF4-FFF2-40B4-BE49-F238E27FC236}">
                <a16:creationId xmlns:a16="http://schemas.microsoft.com/office/drawing/2014/main" id="{3E776164-F721-54EA-FD15-B033D37A415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C622E24-D164-7DD5-6617-0A4BF1AF0756}"/>
              </a:ext>
            </a:extLst>
          </p:cNvPr>
          <p:cNvSpPr>
            <a:spLocks noGrp="1"/>
          </p:cNvSpPr>
          <p:nvPr>
            <p:ph type="sldNum" sz="quarter" idx="12"/>
          </p:nvPr>
        </p:nvSpPr>
        <p:spPr/>
        <p:txBody>
          <a:bodyPr/>
          <a:lstStyle/>
          <a:p>
            <a:fld id="{3291B6BC-0BF3-47B2-9BF8-82D868F99C50}" type="slidenum">
              <a:rPr lang="en-IN" smtClean="0"/>
              <a:t>‹#›</a:t>
            </a:fld>
            <a:endParaRPr lang="en-IN"/>
          </a:p>
        </p:txBody>
      </p:sp>
    </p:spTree>
    <p:extLst>
      <p:ext uri="{BB962C8B-B14F-4D97-AF65-F5344CB8AC3E}">
        <p14:creationId xmlns:p14="http://schemas.microsoft.com/office/powerpoint/2010/main" val="14443274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264DC-B0FC-2CAD-284E-064C7026D01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B90B429-F0A0-08FE-60CA-20287D58170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8790885-9D20-223D-1C89-649B2243EC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BA417F1-AF93-5F80-9539-B4639B6D0686}"/>
              </a:ext>
            </a:extLst>
          </p:cNvPr>
          <p:cNvSpPr>
            <a:spLocks noGrp="1"/>
          </p:cNvSpPr>
          <p:nvPr>
            <p:ph type="dt" sz="half" idx="10"/>
          </p:nvPr>
        </p:nvSpPr>
        <p:spPr/>
        <p:txBody>
          <a:bodyPr/>
          <a:lstStyle/>
          <a:p>
            <a:fld id="{BD25AD99-4945-4935-BAF0-D95B0A93FBFD}" type="datetimeFigureOut">
              <a:rPr lang="en-IN" smtClean="0"/>
              <a:t>21-09-2025</a:t>
            </a:fld>
            <a:endParaRPr lang="en-IN"/>
          </a:p>
        </p:txBody>
      </p:sp>
      <p:sp>
        <p:nvSpPr>
          <p:cNvPr id="6" name="Footer Placeholder 5">
            <a:extLst>
              <a:ext uri="{FF2B5EF4-FFF2-40B4-BE49-F238E27FC236}">
                <a16:creationId xmlns:a16="http://schemas.microsoft.com/office/drawing/2014/main" id="{9E0D0FF6-8807-18F5-1E62-5887938928A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121C9DF-BE02-DB7C-F290-652C201693D7}"/>
              </a:ext>
            </a:extLst>
          </p:cNvPr>
          <p:cNvSpPr>
            <a:spLocks noGrp="1"/>
          </p:cNvSpPr>
          <p:nvPr>
            <p:ph type="sldNum" sz="quarter" idx="12"/>
          </p:nvPr>
        </p:nvSpPr>
        <p:spPr/>
        <p:txBody>
          <a:bodyPr/>
          <a:lstStyle/>
          <a:p>
            <a:fld id="{3291B6BC-0BF3-47B2-9BF8-82D868F99C50}" type="slidenum">
              <a:rPr lang="en-IN" smtClean="0"/>
              <a:t>‹#›</a:t>
            </a:fld>
            <a:endParaRPr lang="en-IN"/>
          </a:p>
        </p:txBody>
      </p:sp>
    </p:spTree>
    <p:extLst>
      <p:ext uri="{BB962C8B-B14F-4D97-AF65-F5344CB8AC3E}">
        <p14:creationId xmlns:p14="http://schemas.microsoft.com/office/powerpoint/2010/main" val="32677825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A89CE9-91F4-BF62-E7A7-D893230242C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6F3A2A3-5550-BABA-3279-6439FF445F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DEFEFE6-E31E-44FB-F611-6B1CE7C884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C6C52C0-8539-B249-B562-F058408C468B}"/>
              </a:ext>
            </a:extLst>
          </p:cNvPr>
          <p:cNvSpPr>
            <a:spLocks noGrp="1"/>
          </p:cNvSpPr>
          <p:nvPr>
            <p:ph type="dt" sz="half" idx="10"/>
          </p:nvPr>
        </p:nvSpPr>
        <p:spPr/>
        <p:txBody>
          <a:bodyPr/>
          <a:lstStyle/>
          <a:p>
            <a:fld id="{BD25AD99-4945-4935-BAF0-D95B0A93FBFD}" type="datetimeFigureOut">
              <a:rPr lang="en-IN" smtClean="0"/>
              <a:t>21-09-2025</a:t>
            </a:fld>
            <a:endParaRPr lang="en-IN"/>
          </a:p>
        </p:txBody>
      </p:sp>
      <p:sp>
        <p:nvSpPr>
          <p:cNvPr id="6" name="Footer Placeholder 5">
            <a:extLst>
              <a:ext uri="{FF2B5EF4-FFF2-40B4-BE49-F238E27FC236}">
                <a16:creationId xmlns:a16="http://schemas.microsoft.com/office/drawing/2014/main" id="{F6DFEF5B-0B80-CE9D-F2DD-F485EBF5CDB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957F660-37DA-7DB7-5998-DDAFFA019064}"/>
              </a:ext>
            </a:extLst>
          </p:cNvPr>
          <p:cNvSpPr>
            <a:spLocks noGrp="1"/>
          </p:cNvSpPr>
          <p:nvPr>
            <p:ph type="sldNum" sz="quarter" idx="12"/>
          </p:nvPr>
        </p:nvSpPr>
        <p:spPr/>
        <p:txBody>
          <a:bodyPr/>
          <a:lstStyle/>
          <a:p>
            <a:fld id="{3291B6BC-0BF3-47B2-9BF8-82D868F99C50}" type="slidenum">
              <a:rPr lang="en-IN" smtClean="0"/>
              <a:t>‹#›</a:t>
            </a:fld>
            <a:endParaRPr lang="en-IN"/>
          </a:p>
        </p:txBody>
      </p:sp>
    </p:spTree>
    <p:extLst>
      <p:ext uri="{BB962C8B-B14F-4D97-AF65-F5344CB8AC3E}">
        <p14:creationId xmlns:p14="http://schemas.microsoft.com/office/powerpoint/2010/main" val="10822332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1D853E-83B9-7BBB-D8EC-24732E19349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FC8C645-F26D-404E-685B-50820744826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D392250-0AC3-A90A-3B9D-F8DE7F4B3321}"/>
              </a:ext>
            </a:extLst>
          </p:cNvPr>
          <p:cNvSpPr>
            <a:spLocks noGrp="1"/>
          </p:cNvSpPr>
          <p:nvPr>
            <p:ph type="dt" sz="half" idx="10"/>
          </p:nvPr>
        </p:nvSpPr>
        <p:spPr/>
        <p:txBody>
          <a:bodyPr/>
          <a:lstStyle/>
          <a:p>
            <a:fld id="{BD25AD99-4945-4935-BAF0-D95B0A93FBFD}" type="datetimeFigureOut">
              <a:rPr lang="en-IN" smtClean="0"/>
              <a:t>21-09-2025</a:t>
            </a:fld>
            <a:endParaRPr lang="en-IN"/>
          </a:p>
        </p:txBody>
      </p:sp>
      <p:sp>
        <p:nvSpPr>
          <p:cNvPr id="5" name="Footer Placeholder 4">
            <a:extLst>
              <a:ext uri="{FF2B5EF4-FFF2-40B4-BE49-F238E27FC236}">
                <a16:creationId xmlns:a16="http://schemas.microsoft.com/office/drawing/2014/main" id="{01A8D45A-9327-DD00-140E-528D7D8B1A3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E497C2B-4669-1FB2-8B98-FD9A1A22BD2A}"/>
              </a:ext>
            </a:extLst>
          </p:cNvPr>
          <p:cNvSpPr>
            <a:spLocks noGrp="1"/>
          </p:cNvSpPr>
          <p:nvPr>
            <p:ph type="sldNum" sz="quarter" idx="12"/>
          </p:nvPr>
        </p:nvSpPr>
        <p:spPr/>
        <p:txBody>
          <a:bodyPr/>
          <a:lstStyle/>
          <a:p>
            <a:fld id="{3291B6BC-0BF3-47B2-9BF8-82D868F99C50}" type="slidenum">
              <a:rPr lang="en-IN" smtClean="0"/>
              <a:t>‹#›</a:t>
            </a:fld>
            <a:endParaRPr lang="en-IN"/>
          </a:p>
        </p:txBody>
      </p:sp>
    </p:spTree>
    <p:extLst>
      <p:ext uri="{BB962C8B-B14F-4D97-AF65-F5344CB8AC3E}">
        <p14:creationId xmlns:p14="http://schemas.microsoft.com/office/powerpoint/2010/main" val="32173123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B7EE7DE-BF44-5399-14FF-AD98CA39715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034A26F-180F-E22B-7FD9-2061655D5A8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AC4FE21-F7BB-8BCC-71F7-AFDC5E5876E2}"/>
              </a:ext>
            </a:extLst>
          </p:cNvPr>
          <p:cNvSpPr>
            <a:spLocks noGrp="1"/>
          </p:cNvSpPr>
          <p:nvPr>
            <p:ph type="dt" sz="half" idx="10"/>
          </p:nvPr>
        </p:nvSpPr>
        <p:spPr/>
        <p:txBody>
          <a:bodyPr/>
          <a:lstStyle/>
          <a:p>
            <a:fld id="{BD25AD99-4945-4935-BAF0-D95B0A93FBFD}" type="datetimeFigureOut">
              <a:rPr lang="en-IN" smtClean="0"/>
              <a:t>21-09-2025</a:t>
            </a:fld>
            <a:endParaRPr lang="en-IN"/>
          </a:p>
        </p:txBody>
      </p:sp>
      <p:sp>
        <p:nvSpPr>
          <p:cNvPr id="5" name="Footer Placeholder 4">
            <a:extLst>
              <a:ext uri="{FF2B5EF4-FFF2-40B4-BE49-F238E27FC236}">
                <a16:creationId xmlns:a16="http://schemas.microsoft.com/office/drawing/2014/main" id="{FA24D84E-7D74-A5F9-7262-ACC468C11BD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FAA3F8E-D7BA-A793-B5DF-98555BDEF993}"/>
              </a:ext>
            </a:extLst>
          </p:cNvPr>
          <p:cNvSpPr>
            <a:spLocks noGrp="1"/>
          </p:cNvSpPr>
          <p:nvPr>
            <p:ph type="sldNum" sz="quarter" idx="12"/>
          </p:nvPr>
        </p:nvSpPr>
        <p:spPr/>
        <p:txBody>
          <a:bodyPr/>
          <a:lstStyle/>
          <a:p>
            <a:fld id="{3291B6BC-0BF3-47B2-9BF8-82D868F99C50}" type="slidenum">
              <a:rPr lang="en-IN" smtClean="0"/>
              <a:t>‹#›</a:t>
            </a:fld>
            <a:endParaRPr lang="en-IN"/>
          </a:p>
        </p:txBody>
      </p:sp>
    </p:spTree>
    <p:extLst>
      <p:ext uri="{BB962C8B-B14F-4D97-AF65-F5344CB8AC3E}">
        <p14:creationId xmlns:p14="http://schemas.microsoft.com/office/powerpoint/2010/main" val="25497716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BE2A232-C222-7749-0BB4-84EE7C93893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6C522C1-06C5-EE4B-5B84-A4D11027AED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1A0FDF5-8FD2-A894-C393-494AC843785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D25AD99-4945-4935-BAF0-D95B0A93FBFD}" type="datetimeFigureOut">
              <a:rPr lang="en-IN" smtClean="0"/>
              <a:t>21-09-2025</a:t>
            </a:fld>
            <a:endParaRPr lang="en-IN"/>
          </a:p>
        </p:txBody>
      </p:sp>
      <p:sp>
        <p:nvSpPr>
          <p:cNvPr id="5" name="Footer Placeholder 4">
            <a:extLst>
              <a:ext uri="{FF2B5EF4-FFF2-40B4-BE49-F238E27FC236}">
                <a16:creationId xmlns:a16="http://schemas.microsoft.com/office/drawing/2014/main" id="{495AF2DC-8475-4EB2-81A5-ED6375FAA0F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8A0D9C9-02A2-607A-96FE-D8B2A7B37A6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291B6BC-0BF3-47B2-9BF8-82D868F99C50}" type="slidenum">
              <a:rPr lang="en-IN" smtClean="0"/>
              <a:t>‹#›</a:t>
            </a:fld>
            <a:endParaRPr lang="en-IN"/>
          </a:p>
        </p:txBody>
      </p:sp>
    </p:spTree>
    <p:extLst>
      <p:ext uri="{BB962C8B-B14F-4D97-AF65-F5344CB8AC3E}">
        <p14:creationId xmlns:p14="http://schemas.microsoft.com/office/powerpoint/2010/main" val="6994870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9D6A5D-A57B-63F3-A622-57C0C5B63873}"/>
              </a:ext>
            </a:extLst>
          </p:cNvPr>
          <p:cNvSpPr>
            <a:spLocks noGrp="1"/>
          </p:cNvSpPr>
          <p:nvPr>
            <p:ph type="ctrTitle"/>
          </p:nvPr>
        </p:nvSpPr>
        <p:spPr/>
        <p:txBody>
          <a:bodyPr>
            <a:normAutofit fontScale="90000"/>
          </a:bodyPr>
          <a:lstStyle/>
          <a:p>
            <a:r>
              <a:rPr lang="en-US" b="1" dirty="0">
                <a:latin typeface="Arial" panose="020B0604020202020204" pitchFamily="34" charset="0"/>
                <a:cs typeface="Arial" panose="020B0604020202020204" pitchFamily="34" charset="0"/>
              </a:rPr>
              <a:t>Lognormal Analytics Case Study: Understanding Our Players</a:t>
            </a:r>
            <a:endParaRPr lang="en-IN" b="1" dirty="0">
              <a:latin typeface="Arial" panose="020B0604020202020204" pitchFamily="34" charset="0"/>
              <a:cs typeface="Arial" panose="020B0604020202020204" pitchFamily="34" charset="0"/>
            </a:endParaRPr>
          </a:p>
        </p:txBody>
      </p:sp>
      <p:sp>
        <p:nvSpPr>
          <p:cNvPr id="3" name="Subtitle 2">
            <a:extLst>
              <a:ext uri="{FF2B5EF4-FFF2-40B4-BE49-F238E27FC236}">
                <a16:creationId xmlns:a16="http://schemas.microsoft.com/office/drawing/2014/main" id="{6CE93F20-F6EE-F79B-00B8-A41A7D03AB77}"/>
              </a:ext>
            </a:extLst>
          </p:cNvPr>
          <p:cNvSpPr>
            <a:spLocks noGrp="1"/>
          </p:cNvSpPr>
          <p:nvPr>
            <p:ph type="subTitle" idx="1"/>
          </p:nvPr>
        </p:nvSpPr>
        <p:spPr/>
        <p:txBody>
          <a:bodyPr/>
          <a:lstStyle/>
          <a:p>
            <a:r>
              <a:rPr lang="en-IN" dirty="0">
                <a:latin typeface="Arial" panose="020B0604020202020204" pitchFamily="34" charset="0"/>
                <a:cs typeface="Arial" panose="020B0604020202020204" pitchFamily="34" charset="0"/>
              </a:rPr>
              <a:t>Prepared by: Prathmesh Raut</a:t>
            </a:r>
          </a:p>
          <a:p>
            <a:r>
              <a:rPr lang="en-IN" dirty="0">
                <a:latin typeface="Arial" panose="020B0604020202020204" pitchFamily="34" charset="0"/>
                <a:cs typeface="Arial" panose="020B0604020202020204" pitchFamily="34" charset="0"/>
              </a:rPr>
              <a:t>Date: 21/09/2025</a:t>
            </a:r>
          </a:p>
        </p:txBody>
      </p:sp>
    </p:spTree>
    <p:extLst>
      <p:ext uri="{BB962C8B-B14F-4D97-AF65-F5344CB8AC3E}">
        <p14:creationId xmlns:p14="http://schemas.microsoft.com/office/powerpoint/2010/main" val="25725116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B03C4-4187-9365-329C-717B3134B293}"/>
              </a:ext>
            </a:extLst>
          </p:cNvPr>
          <p:cNvSpPr>
            <a:spLocks noGrp="1"/>
          </p:cNvSpPr>
          <p:nvPr>
            <p:ph type="title"/>
          </p:nvPr>
        </p:nvSpPr>
        <p:spPr/>
        <p:txBody>
          <a:bodyPr/>
          <a:lstStyle/>
          <a:p>
            <a:pPr algn="ctr"/>
            <a:r>
              <a:rPr lang="en-IN" dirty="0">
                <a:latin typeface="Arial" panose="020B0604020202020204" pitchFamily="34" charset="0"/>
                <a:cs typeface="Arial" panose="020B0604020202020204" pitchFamily="34" charset="0"/>
              </a:rPr>
              <a:t>What I Found</a:t>
            </a:r>
          </a:p>
        </p:txBody>
      </p:sp>
      <p:sp>
        <p:nvSpPr>
          <p:cNvPr id="3" name="Content Placeholder 2">
            <a:extLst>
              <a:ext uri="{FF2B5EF4-FFF2-40B4-BE49-F238E27FC236}">
                <a16:creationId xmlns:a16="http://schemas.microsoft.com/office/drawing/2014/main" id="{E92CEB42-F6E7-2DFB-5C58-E4DAEB9E2242}"/>
              </a:ext>
            </a:extLst>
          </p:cNvPr>
          <p:cNvSpPr>
            <a:spLocks noGrp="1"/>
          </p:cNvSpPr>
          <p:nvPr>
            <p:ph idx="1"/>
          </p:nvPr>
        </p:nvSpPr>
        <p:spPr/>
        <p:txBody>
          <a:bodyPr>
            <a:normAutofit/>
          </a:bodyPr>
          <a:lstStyle/>
          <a:p>
            <a:pPr marL="0" indent="0">
              <a:buNone/>
            </a:pPr>
            <a:r>
              <a:rPr lang="en-US" sz="2000" dirty="0">
                <a:latin typeface="Arial" panose="020B0604020202020204" pitchFamily="34" charset="0"/>
                <a:cs typeface="Arial" panose="020B0604020202020204" pitchFamily="34" charset="0"/>
              </a:rPr>
              <a:t>After digging into the data, I’ve pulled out the four most important takeaways that I think tell the story of our players.</a:t>
            </a:r>
          </a:p>
          <a:p>
            <a:r>
              <a:rPr lang="en-US" sz="2000" b="1" dirty="0"/>
              <a:t>First deposit is our biggest hurdle.</a:t>
            </a:r>
            <a:r>
              <a:rPr lang="en-US" sz="2000" dirty="0"/>
              <a:t> Getting players to put money in for the first time is where we lose most people. In fact, only about </a:t>
            </a:r>
            <a:r>
              <a:rPr lang="en-US" sz="2000" b="1" dirty="0"/>
              <a:t>4 out of 10</a:t>
            </a:r>
            <a:r>
              <a:rPr lang="en-US" sz="2000" dirty="0"/>
              <a:t> players who sign up ever make a deposit.</a:t>
            </a:r>
          </a:p>
          <a:p>
            <a:r>
              <a:rPr lang="en-US" sz="2000" b="1" dirty="0"/>
              <a:t>First 48 hours are everything.</a:t>
            </a:r>
            <a:r>
              <a:rPr lang="en-US" sz="2000" dirty="0"/>
              <a:t> I found that players who are active in their first day or two are the ones who bring in nearly all of the initial deposit money. If they don't deposit in that early window, they likely never will.</a:t>
            </a:r>
          </a:p>
          <a:p>
            <a:r>
              <a:rPr lang="en-US" sz="2000" b="1" dirty="0"/>
              <a:t>"Same-Day" players are our superstars.</a:t>
            </a:r>
            <a:r>
              <a:rPr lang="en-US" sz="2000" dirty="0"/>
              <a:t> The most valuable players we have are those who sign up, deposit, and place a bet all on the same day. They wager </a:t>
            </a:r>
            <a:r>
              <a:rPr lang="en-US" sz="2000" b="1" dirty="0"/>
              <a:t>more than double</a:t>
            </a:r>
            <a:r>
              <a:rPr lang="en-US" sz="2000" dirty="0"/>
              <a:t> the amount of other players in their first month.</a:t>
            </a:r>
          </a:p>
          <a:p>
            <a:r>
              <a:rPr lang="en-US" sz="2000" b="1" dirty="0"/>
              <a:t>Few players drive most of our revenue.</a:t>
            </a:r>
            <a:r>
              <a:rPr lang="en-US" sz="2000" dirty="0"/>
              <a:t> It's clear that a small group of big spenders is crucial to our business. The top </a:t>
            </a:r>
            <a:r>
              <a:rPr lang="en-US" sz="2000" b="1" dirty="0"/>
              <a:t>10%</a:t>
            </a:r>
            <a:r>
              <a:rPr lang="en-US" sz="2000" dirty="0"/>
              <a:t> of our depositors account for a massive </a:t>
            </a:r>
            <a:r>
              <a:rPr lang="en-US" sz="2000" b="1" dirty="0"/>
              <a:t>70%</a:t>
            </a:r>
            <a:r>
              <a:rPr lang="en-US" sz="2000" dirty="0"/>
              <a:t> of all the money deposited.</a:t>
            </a:r>
          </a:p>
          <a:p>
            <a:pPr marL="0" indent="0">
              <a:buNone/>
            </a:pPr>
            <a:endParaRPr lang="en-US" sz="1800" dirty="0"/>
          </a:p>
          <a:p>
            <a:endParaRPr lang="en-IN"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298634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A74A7-DA6D-3A44-4A7E-FDACAE5B547C}"/>
              </a:ext>
            </a:extLst>
          </p:cNvPr>
          <p:cNvSpPr>
            <a:spLocks noGrp="1"/>
          </p:cNvSpPr>
          <p:nvPr>
            <p:ph type="title"/>
          </p:nvPr>
        </p:nvSpPr>
        <p:spPr/>
        <p:txBody>
          <a:bodyPr/>
          <a:lstStyle/>
          <a:p>
            <a:pPr algn="ctr"/>
            <a:r>
              <a:rPr lang="en-IN" dirty="0">
                <a:latin typeface="Arial" panose="020B0604020202020204" pitchFamily="34" charset="0"/>
                <a:cs typeface="Arial" panose="020B0604020202020204" pitchFamily="34" charset="0"/>
              </a:rPr>
              <a:t>The Player Journey</a:t>
            </a:r>
          </a:p>
        </p:txBody>
      </p:sp>
      <p:sp>
        <p:nvSpPr>
          <p:cNvPr id="3" name="Content Placeholder 2">
            <a:extLst>
              <a:ext uri="{FF2B5EF4-FFF2-40B4-BE49-F238E27FC236}">
                <a16:creationId xmlns:a16="http://schemas.microsoft.com/office/drawing/2014/main" id="{2520BC18-7D8D-78B9-4790-0BB08131FFDE}"/>
              </a:ext>
            </a:extLst>
          </p:cNvPr>
          <p:cNvSpPr>
            <a:spLocks noGrp="1"/>
          </p:cNvSpPr>
          <p:nvPr>
            <p:ph idx="1"/>
          </p:nvPr>
        </p:nvSpPr>
        <p:spPr/>
        <p:txBody>
          <a:bodyPr>
            <a:normAutofit/>
          </a:bodyPr>
          <a:lstStyle/>
          <a:p>
            <a:pPr marL="0" indent="0">
              <a:buNone/>
            </a:pPr>
            <a:r>
              <a:rPr lang="en-US" sz="2000" dirty="0"/>
              <a:t>I started by looking at the path players take from signing up to becoming active. What I saw was a big drop-off right at the start.</a:t>
            </a:r>
          </a:p>
          <a:p>
            <a:r>
              <a:rPr lang="en-US" sz="2000" dirty="0"/>
              <a:t>As you can see, only </a:t>
            </a:r>
            <a:r>
              <a:rPr lang="en-US" sz="2000" b="1" dirty="0"/>
              <a:t>39.2%</a:t>
            </a:r>
            <a:r>
              <a:rPr lang="en-US" sz="2000" dirty="0"/>
              <a:t> of players who register eventually make that first deposit. This is our single biggest opportunity for growth.</a:t>
            </a:r>
          </a:p>
          <a:p>
            <a:r>
              <a:rPr lang="en-US" sz="2000" dirty="0"/>
              <a:t>But there's good news here too. Free bets seem to be working really well. I saw that more people place their first bet than make a first deposit, which tells me they're happy to try out the platform when there's no risk involved.</a:t>
            </a:r>
          </a:p>
          <a:p>
            <a:pPr marL="0" indent="0">
              <a:buNone/>
            </a:pPr>
            <a:endParaRPr lang="en-IN" sz="200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E89252CE-5475-44EA-7561-2CBFDCA7E97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82587" y="3775159"/>
            <a:ext cx="3927356" cy="2856706"/>
          </a:xfrm>
          <a:prstGeom prst="rect">
            <a:avLst/>
          </a:prstGeom>
        </p:spPr>
      </p:pic>
    </p:spTree>
    <p:extLst>
      <p:ext uri="{BB962C8B-B14F-4D97-AF65-F5344CB8AC3E}">
        <p14:creationId xmlns:p14="http://schemas.microsoft.com/office/powerpoint/2010/main" val="16862400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3C62B-D89A-C51B-264E-A9F4D2FAEDD3}"/>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Finding 1: The 48-Hour Conversion Window</a:t>
            </a:r>
            <a:endParaRPr lang="en-IN"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7574F25D-3FE7-00D9-A3A9-3F2C97108331}"/>
              </a:ext>
            </a:extLst>
          </p:cNvPr>
          <p:cNvSpPr>
            <a:spLocks noGrp="1"/>
          </p:cNvSpPr>
          <p:nvPr>
            <p:ph idx="1"/>
          </p:nvPr>
        </p:nvSpPr>
        <p:spPr/>
        <p:txBody>
          <a:bodyPr>
            <a:normAutofit/>
          </a:bodyPr>
          <a:lstStyle/>
          <a:p>
            <a:pPr marL="0" indent="0">
              <a:buNone/>
            </a:pPr>
            <a:r>
              <a:rPr lang="en-US" sz="2000" dirty="0"/>
              <a:t>When I grouped our players by how active they were in their first month, a really clear pattern emerged.</a:t>
            </a:r>
          </a:p>
          <a:p>
            <a:r>
              <a:rPr lang="en-US" sz="2000" dirty="0"/>
              <a:t>The players who were active for just </a:t>
            </a:r>
            <a:r>
              <a:rPr lang="en-US" sz="2000" b="1" dirty="0"/>
              <a:t>1-2 days</a:t>
            </a:r>
            <a:r>
              <a:rPr lang="en-US" sz="2000" dirty="0"/>
              <a:t> had an amazing deposit conversion rate of </a:t>
            </a:r>
            <a:r>
              <a:rPr lang="en-US" sz="2000" b="1" dirty="0"/>
              <a:t>72.3%</a:t>
            </a:r>
            <a:r>
              <a:rPr lang="en-US" sz="2000" dirty="0"/>
              <a:t>.</a:t>
            </a:r>
          </a:p>
          <a:p>
            <a:r>
              <a:rPr lang="en-US" sz="2000" dirty="0"/>
              <a:t>In contrast, players who were active for 3 days or more had a </a:t>
            </a:r>
            <a:r>
              <a:rPr lang="en-US" sz="2000" b="1" dirty="0"/>
              <a:t>0%</a:t>
            </a:r>
            <a:r>
              <a:rPr lang="en-US" sz="2000" dirty="0"/>
              <a:t> conversion rate.</a:t>
            </a:r>
          </a:p>
          <a:p>
            <a:r>
              <a:rPr lang="en-US" sz="2000" dirty="0"/>
              <a:t>What this tells me is that the first two days of activity are basically the only window we have to turn a new user into a paying customer.</a:t>
            </a:r>
          </a:p>
          <a:p>
            <a:pPr marL="0" indent="0">
              <a:buNone/>
            </a:pPr>
            <a:endParaRPr lang="en-IN" sz="200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DE669AF1-CFE1-5B5A-3E6A-8C96B85ED1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27970" y="4001294"/>
            <a:ext cx="4136059" cy="2690160"/>
          </a:xfrm>
          <a:prstGeom prst="rect">
            <a:avLst/>
          </a:prstGeom>
        </p:spPr>
      </p:pic>
    </p:spTree>
    <p:extLst>
      <p:ext uri="{BB962C8B-B14F-4D97-AF65-F5344CB8AC3E}">
        <p14:creationId xmlns:p14="http://schemas.microsoft.com/office/powerpoint/2010/main" val="928999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E7E44E-6077-A057-3B7C-106188A73160}"/>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Finding 2: Our Most Valuable Players Act Fast</a:t>
            </a:r>
            <a:endParaRPr lang="en-IN"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F9B3DD22-FD15-293B-040B-4CB9B9F7E1CB}"/>
              </a:ext>
            </a:extLst>
          </p:cNvPr>
          <p:cNvSpPr>
            <a:spLocks noGrp="1"/>
          </p:cNvSpPr>
          <p:nvPr>
            <p:ph idx="1"/>
          </p:nvPr>
        </p:nvSpPr>
        <p:spPr/>
        <p:txBody>
          <a:bodyPr>
            <a:normAutofit/>
          </a:bodyPr>
          <a:lstStyle/>
          <a:p>
            <a:r>
              <a:rPr lang="en-US" sz="2000" dirty="0"/>
              <a:t>The players who make a deposit and place a bet on the </a:t>
            </a:r>
            <a:r>
              <a:rPr lang="en-US" sz="2000" b="1" dirty="0"/>
              <a:t>very same day</a:t>
            </a:r>
            <a:r>
              <a:rPr lang="en-US" sz="2000" dirty="0"/>
              <a:t> are our most valuable group, and it's not even close.</a:t>
            </a:r>
          </a:p>
          <a:p>
            <a:r>
              <a:rPr lang="en-US" sz="2000" dirty="0"/>
              <a:t>On average, this group bets </a:t>
            </a:r>
            <a:r>
              <a:rPr lang="en-US" sz="2000" b="1" dirty="0"/>
              <a:t>4,630.78</a:t>
            </a:r>
            <a:r>
              <a:rPr lang="en-US" sz="2000" dirty="0"/>
              <a:t> in their first 30 days. That’s more than double what any other group wagers.</a:t>
            </a:r>
          </a:p>
          <a:p>
            <a:r>
              <a:rPr lang="en-US" sz="2000" dirty="0"/>
              <a:t>This shows that the players who are the most excited and committed from the start end up spending the most money.</a:t>
            </a:r>
          </a:p>
          <a:p>
            <a:pPr marL="0" indent="0">
              <a:buNone/>
            </a:pPr>
            <a:endParaRPr lang="en-US" sz="2000" dirty="0"/>
          </a:p>
          <a:p>
            <a:pPr marL="0" indent="0">
              <a:buNone/>
            </a:pPr>
            <a:endParaRPr lang="en-IN" sz="2000" dirty="0"/>
          </a:p>
        </p:txBody>
      </p:sp>
      <p:pic>
        <p:nvPicPr>
          <p:cNvPr id="5" name="Picture 4">
            <a:extLst>
              <a:ext uri="{FF2B5EF4-FFF2-40B4-BE49-F238E27FC236}">
                <a16:creationId xmlns:a16="http://schemas.microsoft.com/office/drawing/2014/main" id="{23034379-34D2-7BF4-4457-837DB95DC2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28618" y="3622149"/>
            <a:ext cx="4625446" cy="2945424"/>
          </a:xfrm>
          <a:prstGeom prst="rect">
            <a:avLst/>
          </a:prstGeom>
        </p:spPr>
      </p:pic>
    </p:spTree>
    <p:extLst>
      <p:ext uri="{BB962C8B-B14F-4D97-AF65-F5344CB8AC3E}">
        <p14:creationId xmlns:p14="http://schemas.microsoft.com/office/powerpoint/2010/main" val="36647834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DE0DD7-95E5-0235-6A03-D9A1DD15FA90}"/>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Finding 3: We're Powered by "Whales"</a:t>
            </a:r>
            <a:endParaRPr lang="en-IN"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6F87352E-286F-CE35-F874-10C2E90875A1}"/>
              </a:ext>
            </a:extLst>
          </p:cNvPr>
          <p:cNvSpPr>
            <a:spLocks noGrp="1"/>
          </p:cNvSpPr>
          <p:nvPr>
            <p:ph idx="1"/>
          </p:nvPr>
        </p:nvSpPr>
        <p:spPr/>
        <p:txBody>
          <a:bodyPr>
            <a:normAutofit/>
          </a:bodyPr>
          <a:lstStyle/>
          <a:p>
            <a:pPr marL="0" indent="0">
              <a:buNone/>
            </a:pPr>
            <a:r>
              <a:rPr lang="en-US" sz="2000" dirty="0"/>
              <a:t>Finally, I looked at where all the money is actually coming from. It’s clear that a small number of big spenders are driving our revenue.</a:t>
            </a:r>
          </a:p>
          <a:p>
            <a:r>
              <a:rPr lang="en-US" sz="2000" dirty="0"/>
              <a:t>The top </a:t>
            </a:r>
            <a:r>
              <a:rPr lang="en-US" sz="2000" b="1" dirty="0"/>
              <a:t>10%</a:t>
            </a:r>
            <a:r>
              <a:rPr lang="en-US" sz="2000" dirty="0"/>
              <a:t> of our depositors are contributing a huge </a:t>
            </a:r>
            <a:r>
              <a:rPr lang="en-US" sz="2000" b="1" dirty="0"/>
              <a:t>69.7%</a:t>
            </a:r>
            <a:r>
              <a:rPr lang="en-US" sz="2000" dirty="0"/>
              <a:t> of all the money deposited.</a:t>
            </a:r>
          </a:p>
          <a:p>
            <a:r>
              <a:rPr lang="en-US" sz="2000" dirty="0"/>
              <a:t>On the other end of the scale, most of our players start with small deposits, usually </a:t>
            </a:r>
            <a:r>
              <a:rPr lang="en-US" sz="2000" b="1" dirty="0"/>
              <a:t>10 or less</a:t>
            </a:r>
            <a:r>
              <a:rPr lang="en-US" sz="2000" dirty="0"/>
              <a:t>.</a:t>
            </a:r>
          </a:p>
          <a:p>
            <a:r>
              <a:rPr lang="en-US" sz="2000" dirty="0"/>
              <a:t>This tells me we have a "whale" economy, and focusing on our biggest spenders is crucial for our success.</a:t>
            </a:r>
          </a:p>
          <a:p>
            <a:pPr marL="0" indent="0">
              <a:buNone/>
            </a:pPr>
            <a:endParaRPr lang="en-IN" sz="200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AA1EFA22-61CE-BEB5-8AC9-308AAF7BEA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42129" y="3690975"/>
            <a:ext cx="4707742" cy="2936300"/>
          </a:xfrm>
          <a:prstGeom prst="rect">
            <a:avLst/>
          </a:prstGeom>
        </p:spPr>
      </p:pic>
    </p:spTree>
    <p:extLst>
      <p:ext uri="{BB962C8B-B14F-4D97-AF65-F5344CB8AC3E}">
        <p14:creationId xmlns:p14="http://schemas.microsoft.com/office/powerpoint/2010/main" val="24708413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3246E-CA3D-FB17-9F1D-73A02045F942}"/>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My Recommendations: What Should We Do Next?</a:t>
            </a:r>
            <a:endParaRPr lang="en-IN"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CFA1C89D-8EB9-E941-1591-D719BD3ECA53}"/>
              </a:ext>
            </a:extLst>
          </p:cNvPr>
          <p:cNvSpPr>
            <a:spLocks noGrp="1"/>
          </p:cNvSpPr>
          <p:nvPr>
            <p:ph idx="1"/>
          </p:nvPr>
        </p:nvSpPr>
        <p:spPr/>
        <p:txBody>
          <a:bodyPr>
            <a:normAutofit/>
          </a:bodyPr>
          <a:lstStyle/>
          <a:p>
            <a:r>
              <a:rPr lang="en-US" sz="2000" b="1" dirty="0"/>
              <a:t>Focus Everything on the First 48 Hours:</a:t>
            </a:r>
            <a:r>
              <a:rPr lang="en-US" sz="2000" dirty="0"/>
              <a:t> I think we should really lean into this window. Let's use welcome bonuses, tutorials, and special offers to encourage new players to deposit as soon as they become active.</a:t>
            </a:r>
          </a:p>
          <a:p>
            <a:r>
              <a:rPr lang="en-US" sz="2000" b="1" dirty="0"/>
              <a:t>Create a VIP Program for "Same-Day" Players:</a:t>
            </a:r>
            <a:r>
              <a:rPr lang="en-US" sz="2000" dirty="0"/>
              <a:t> We now know who our most valuable players are from day one. I suggest we treat them like VIPs immediately with special perks to keep them happy and engaged for the long term.</a:t>
            </a:r>
          </a:p>
          <a:p>
            <a:r>
              <a:rPr lang="en-US" sz="2000" b="1" dirty="0"/>
              <a:t>Use Free Bets as a Bridge to a Deposit:</a:t>
            </a:r>
            <a:r>
              <a:rPr lang="en-US" sz="2000" dirty="0"/>
              <a:t> Free bets are great for getting people to try the platform. I think we should create a smooth and easy path that encourages them to make their first real deposit right after they've used a free bet.</a:t>
            </a:r>
            <a:endParaRPr lang="en-I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777008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746</Words>
  <Application>Microsoft Office PowerPoint</Application>
  <PresentationFormat>Widescreen</PresentationFormat>
  <Paragraphs>31</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Calibri Light</vt:lpstr>
      <vt:lpstr>Office Theme</vt:lpstr>
      <vt:lpstr>Lognormal Analytics Case Study: Understanding Our Players</vt:lpstr>
      <vt:lpstr>What I Found</vt:lpstr>
      <vt:lpstr>The Player Journey</vt:lpstr>
      <vt:lpstr>Finding 1: The 48-Hour Conversion Window</vt:lpstr>
      <vt:lpstr>Finding 2: Our Most Valuable Players Act Fast</vt:lpstr>
      <vt:lpstr>Finding 3: We're Powered by "Whales"</vt:lpstr>
      <vt:lpstr>My Recommendations: What Should We Do Next?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Prathmesh Raut</dc:creator>
  <cp:lastModifiedBy>Prathmesh Raut</cp:lastModifiedBy>
  <cp:revision>1</cp:revision>
  <dcterms:created xsi:type="dcterms:W3CDTF">2025-09-21T05:03:24Z</dcterms:created>
  <dcterms:modified xsi:type="dcterms:W3CDTF">2025-09-21T05:03:42Z</dcterms:modified>
</cp:coreProperties>
</file>